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62"/>
    <p:restoredTop sz="94682"/>
  </p:normalViewPr>
  <p:slideViewPr>
    <p:cSldViewPr snapToGrid="0" snapToObjects="1">
      <p:cViewPr varScale="1">
        <p:scale>
          <a:sx n="98" d="100"/>
          <a:sy n="98" d="100"/>
        </p:scale>
        <p:origin x="216" y="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153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energy: everyone in the room has played UNO. Nobody in the room can play it with their friends right now. That's our opening.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pains: logistics, bad existing products, global friendships. Land on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pillars. Emphasise zero-install + one-link rooms: friction is the enemy of casual games. Fairness pillar sets up monetization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credibility slide for judges: everything is real. Offer the live demo here rather than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Directional numbers from public industry reports. Ludo King is the regional proof point judges in India will know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philosophy IS the pitch: trust drives retention, retention drives LTV. Investors hear 'sustainable', players hear 'respect'.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 numbers from the shipped economy code. The loop prints engagement; bundles monetize impatience, never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four streams already exist in the store build. Prices shown are live config, not aspirations.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four themes ship in the build today. Roadmap adds Ramadan/Eid, Pongal, Halloween... a content calendar competitors must staff an art team to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honest about what's benchmark vs illustrative — judges reward that. The structural point stands: distribution is free because the product is the invite.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note for technical judges: the engine returns new state objects, so moving it server-side behind WebSockets is a port, not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Sequencing logic: multiplayer first (it's the product), competition second (retention), mobile third (scale), IP last (leverage).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ask: vote, play, intros. Leave the demo link on screen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o-ja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no-jade-five.vercel.app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" y="713232"/>
            <a:ext cx="137160" cy="137160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" y="713232"/>
            <a:ext cx="137160" cy="137160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80160" y="713232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99616" y="71323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21240000">
            <a:off x="822960" y="1188720"/>
            <a:ext cx="1325880" cy="1325880"/>
          </a:xfrm>
          <a:prstGeom prst="roundRect">
            <a:avLst>
              <a:gd name="adj" fmla="val 18000"/>
            </a:avLst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3716" rIns="18288" bIns="13716"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389888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 i="0">
                <a:solidFill>
                  <a:srgbClr val="F0EEF8"/>
                </a:solidFill>
                <a:latin typeface="Arial"/>
              </a:rPr>
              <a:t>UNO </a:t>
            </a:r>
            <a:r>
              <a:rPr sz="5000" b="1" i="0">
                <a:solidFill>
                  <a:srgbClr val="F5C400"/>
                </a:solidFill>
                <a:latin typeface="Arial"/>
              </a:rPr>
              <a:t>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7180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F0EEF8"/>
                </a:solidFill>
                <a:latin typeface="Arial"/>
              </a:rPr>
              <a:t>The world’s favourite card game,</a:t>
            </a:r>
          </a:p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F0EEF8"/>
                </a:solidFill>
                <a:latin typeface="Arial"/>
              </a:rPr>
              <a:t>rebuilt for the internet.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43484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A2A0B8"/>
                </a:solidFill>
                <a:latin typeface="Arial"/>
              </a:rPr>
              <a:t>Zero-install rooms for 4–8 players  ·  Festival-themed tables  ·  A store that sells style — never power.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16636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2A2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3716" rIns="18288" bIns="13716" rtlCol="0" anchor="ctr"/>
          <a:lstStyle/>
          <a:p>
            <a:pPr algn="ctr"/>
            <a:r>
              <a:rPr sz="1150" b="1" i="0">
                <a:solidFill>
                  <a:srgbClr val="F5C400"/>
                </a:solidFill>
                <a:latin typeface="Arial"/>
              </a:rPr>
              <a:t>HACKATHON PITCH · AUG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3048" y="516636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0E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3716" rIns="18288" bIns="13716" rtlCol="0" anchor="ctr"/>
          <a:lstStyle/>
          <a:p>
            <a:pPr algn="ctr"/>
            <a:r>
              <a:rPr sz="1150" b="1" i="0">
                <a:solidFill>
                  <a:srgbClr val="27AE60"/>
                </a:solidFill>
                <a:latin typeface="Arial"/>
              </a:rPr>
              <a:t>LIVE DEMO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1888" y="516636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3716" rIns="18288" bIns="13716" rtlCol="0" anchor="ctr"/>
          <a:lstStyle/>
          <a:p>
            <a:pPr algn="ctr"/>
            <a:r>
              <a:rPr sz="1150" b="1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TEAM </a:t>
            </a:r>
            <a:r>
              <a:rPr lang="en-US" sz="1400">
                <a:solidFill>
                  <a:schemeClr val="accent1">
                    <a:lumMod val="60000"/>
                    <a:lumOff val="40000"/>
                  </a:schemeClr>
                </a:solidFill>
              </a:rPr>
              <a:t>Late Night Compile</a:t>
            </a:r>
            <a:endParaRPr sz="1400" b="1" i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729984"/>
            <a:ext cx="3057067" cy="128016"/>
          </a:xfrm>
          <a:prstGeom prst="rect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47923" y="6729984"/>
            <a:ext cx="3057067" cy="128016"/>
          </a:xfrm>
          <a:prstGeom prst="rect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5847" y="6729984"/>
            <a:ext cx="3057067" cy="12801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3771" y="6729984"/>
            <a:ext cx="3057067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F84D590-8ADC-154F-A916-F2FB61F69356}"/>
              </a:ext>
            </a:extLst>
          </p:cNvPr>
          <p:cNvSpPr/>
          <p:nvPr/>
        </p:nvSpPr>
        <p:spPr>
          <a:xfrm>
            <a:off x="8476489" y="5157216"/>
            <a:ext cx="3436838" cy="411479"/>
          </a:xfrm>
          <a:prstGeom prst="roundRect">
            <a:avLst>
              <a:gd name="adj" fmla="val 50000"/>
            </a:avLst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3716" rIns="18288" bIns="13716" rtlCol="0" anchor="ctr"/>
          <a:lstStyle/>
          <a:p>
            <a:r>
              <a:rPr lang="en-US" sz="1400" b="1" i="0">
                <a:solidFill>
                  <a:srgbClr val="FF0000"/>
                </a:solidFill>
                <a:latin typeface="Arial"/>
              </a:rPr>
              <a:t>Link: </a:t>
            </a:r>
            <a:r>
              <a:rPr lang="en-US" sz="1600" u="sng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https://uno-jade</a:t>
            </a:r>
            <a:r>
              <a:rPr lang="en-US" sz="1600" u="sng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en-US" sz="1600" u="sng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five.vercel.app</a:t>
            </a:r>
            <a:endParaRPr sz="1600" i="0">
              <a:solidFill>
                <a:srgbClr val="FF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8111" y="566928"/>
            <a:ext cx="118872" cy="118872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40135" y="566928"/>
            <a:ext cx="118872" cy="118872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2159" y="566928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4183" y="566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02216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0EEF8"/>
                </a:solidFill>
                <a:latin typeface="Arial"/>
              </a:rPr>
              <a:t>Game night doesn’t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484778" cy="260604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92024" rIns="256032" bIns="192024" rtlCol="0" anchor="t"/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F0EEF8"/>
                </a:solidFill>
                <a:latin typeface="Arial"/>
              </a:rPr>
              <a:t>🏠</a:t>
            </a:r>
          </a:p>
          <a:p>
            <a:pPr algn="l">
              <a:spcAft>
                <a:spcPts val="800"/>
              </a:spcAft>
            </a:pPr>
            <a:r>
              <a:rPr sz="1750" b="1" i="0">
                <a:solidFill>
                  <a:srgbClr val="F0EEF8"/>
                </a:solidFill>
                <a:latin typeface="Arial"/>
              </a:rPr>
              <a:t>Same room required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2A0B8"/>
                </a:solidFill>
                <a:latin typeface="Arial"/>
              </a:rPr>
              <a:t>Physical UNO needs everyone around one table. Adult schedules never align.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1965960"/>
            <a:ext cx="3484778" cy="260604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92024" rIns="256032" bIns="192024" rtlCol="0" anchor="t"/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F0EEF8"/>
                </a:solidFill>
                <a:latin typeface="Arial"/>
              </a:rPr>
              <a:t>📱</a:t>
            </a:r>
          </a:p>
          <a:p>
            <a:pPr algn="l">
              <a:spcAft>
                <a:spcPts val="800"/>
              </a:spcAft>
            </a:pPr>
            <a:r>
              <a:rPr sz="1750" b="1" i="0">
                <a:solidFill>
                  <a:srgbClr val="F0EEF8"/>
                </a:solidFill>
                <a:latin typeface="Arial"/>
              </a:rPr>
              <a:t>Online versions feel dated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2A0B8"/>
                </a:solidFill>
                <a:latin typeface="Arial"/>
              </a:rPr>
              <a:t>Cluttered UIs, forced ads and pay-to-win power-ups that poison trust.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8276" y="1965960"/>
            <a:ext cx="3484778" cy="260604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92024" rIns="256032" bIns="192024" rtlCol="0" anchor="t"/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F0EEF8"/>
                </a:solidFill>
                <a:latin typeface="Arial"/>
              </a:rPr>
              <a:t>🌍</a:t>
            </a:r>
          </a:p>
          <a:p>
            <a:pPr algn="l">
              <a:spcAft>
                <a:spcPts val="800"/>
              </a:spcAft>
            </a:pPr>
            <a:r>
              <a:rPr sz="1750" b="1" i="0">
                <a:solidFill>
                  <a:srgbClr val="F0EEF8"/>
                </a:solidFill>
                <a:latin typeface="Arial"/>
              </a:rPr>
              <a:t>Friends are everywhere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2A0B8"/>
                </a:solidFill>
                <a:latin typeface="Arial"/>
              </a:rPr>
              <a:t>Group chats are global — but game night is still stuck in one living room.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094415" cy="1143000"/>
          </a:xfrm>
          <a:prstGeom prst="roundRect">
            <a:avLst>
              <a:gd name="adj" fmla="val 5500"/>
            </a:avLst>
          </a:prstGeom>
          <a:solidFill>
            <a:srgbClr val="231016"/>
          </a:solidFill>
          <a:ln w="12700">
            <a:solidFill>
              <a:srgbClr val="5A2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5739" rIns="274320" bIns="205739" rtlCol="0" anchor="ctr"/>
          <a:lstStyle/>
          <a:p>
            <a:pPr algn="ctr"/>
            <a:r>
              <a:rPr sz="1600" b="0" i="1">
                <a:solidFill>
                  <a:srgbClr val="F0EEF8"/>
                </a:solidFill>
                <a:latin typeface="Arial"/>
              </a:rPr>
              <a:t>UNO is one of the most-played games on Earth — yet there is no instant, fair, ad-free way to play it with friends online. </a:t>
            </a:r>
            <a:r>
              <a:rPr sz="1600" b="1" i="1">
                <a:solidFill>
                  <a:srgbClr val="E02216"/>
                </a:solidFill>
                <a:latin typeface="Arial"/>
              </a:rPr>
              <a:t>That’s the gap we fill.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2A0B8"/>
                </a:solidFill>
                <a:latin typeface="Arial"/>
              </a:rPr>
              <a:t>UNO ONLINE · HACKATHON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A2A0B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8111" y="566928"/>
            <a:ext cx="118872" cy="118872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40135" y="566928"/>
            <a:ext cx="118872" cy="118872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2159" y="566928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4183" y="566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Arial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0EEF8"/>
                </a:solidFill>
                <a:latin typeface="Arial"/>
              </a:rPr>
              <a:t>Open a link. You’re at the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A2A0B8"/>
                </a:solidFill>
                <a:latin typeface="Arial"/>
              </a:rPr>
              <a:t>UNO Online is a browser-native party card game built for the group-chat 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12848"/>
            <a:ext cx="3484778" cy="1810512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50876" rtlCol="0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0EEF8"/>
                </a:solidFill>
                <a:latin typeface="Arial"/>
              </a:rPr>
              <a:t>⚡  </a:t>
            </a:r>
            <a:r>
              <a:rPr sz="1600" b="1" i="0">
                <a:solidFill>
                  <a:srgbClr val="F0EEF8"/>
                </a:solidFill>
                <a:latin typeface="Arial"/>
              </a:rPr>
              <a:t>Zero install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Runs in any browser — phones and laptops. No app-store gate.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2212848"/>
            <a:ext cx="3484778" cy="1810512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50876" rtlCol="0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0EEF8"/>
                </a:solidFill>
                <a:latin typeface="Arial"/>
              </a:rPr>
              <a:t>🔗  </a:t>
            </a:r>
            <a:r>
              <a:rPr sz="1600" b="1" i="0">
                <a:solidFill>
                  <a:srgbClr val="F0EEF8"/>
                </a:solidFill>
                <a:latin typeface="Arial"/>
              </a:rPr>
              <a:t>One-link rooms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Share a code; 4–8 seats fill in seconds. Bots cover no-shows.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212848"/>
            <a:ext cx="3484778" cy="1810512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50876" rtlCol="0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0EEF8"/>
                </a:solidFill>
                <a:latin typeface="Arial"/>
              </a:rPr>
              <a:t>🪔  </a:t>
            </a:r>
            <a:r>
              <a:rPr sz="1600" b="1" i="0">
                <a:solidFill>
                  <a:srgbClr val="F0EEF8"/>
                </a:solidFill>
                <a:latin typeface="Arial"/>
              </a:rPr>
              <a:t>Festival tables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Diwali, Holi, Lunar New Year &amp; Yuletide reskins — rules untouched.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3484778" cy="1810512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50876" rtlCol="0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0EEF8"/>
                </a:solidFill>
                <a:latin typeface="Arial"/>
              </a:rPr>
              <a:t>💬  </a:t>
            </a:r>
            <a:r>
              <a:rPr sz="1600" b="1" i="0">
                <a:solidFill>
                  <a:srgbClr val="F0EEF8"/>
                </a:solidFill>
                <a:latin typeface="Arial"/>
              </a:rPr>
              <a:t>Social by design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Emotes + safe quick-chat. Family-friendly by default.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3458" y="4206240"/>
            <a:ext cx="3484778" cy="1810512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50876" rtlCol="0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0EEF8"/>
                </a:solidFill>
                <a:latin typeface="Arial"/>
              </a:rPr>
              <a:t>🧠  </a:t>
            </a:r>
            <a:r>
              <a:rPr sz="1600" b="1" i="0">
                <a:solidFill>
                  <a:srgbClr val="F0EEF8"/>
                </a:solidFill>
                <a:latin typeface="Arial"/>
              </a:rPr>
              <a:t>Real rules engine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Pure, testable game logic — server-ready from day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4206240"/>
            <a:ext cx="3484778" cy="1810512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50876" rtlCol="0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0EEF8"/>
                </a:solidFill>
                <a:latin typeface="Arial"/>
              </a:rPr>
              <a:t>🎁  </a:t>
            </a:r>
            <a:r>
              <a:rPr sz="1600" b="1" i="0">
                <a:solidFill>
                  <a:srgbClr val="F0EEF8"/>
                </a:solidFill>
                <a:latin typeface="Arial"/>
              </a:rPr>
              <a:t>Fair from day one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Style is for sale. Never advantages.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2A0B8"/>
                </a:solidFill>
                <a:latin typeface="Arial"/>
              </a:rPr>
              <a:t>UNO ONLINE · HACKATHON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A2A0B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8111" y="566928"/>
            <a:ext cx="118872" cy="118872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40135" y="566928"/>
            <a:ext cx="118872" cy="118872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2159" y="566928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4183" y="566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5C400"/>
                </a:solidFill>
                <a:latin typeface="Arial"/>
              </a:rPr>
              <a:t>WHAT’S IN THE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0EEF8"/>
                </a:solidFill>
                <a:latin typeface="Arial"/>
              </a:rPr>
              <a:t>Not a mock-up. A playable game.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5989320" cy="411480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5739" rIns="274320" bIns="205739" rtlCol="0" anchor="t"/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F5C400"/>
                </a:solidFill>
                <a:latin typeface="Arial"/>
              </a:rPr>
              <a:t>SHIPPED FEATURES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7AE60"/>
                </a:solidFill>
                <a:latin typeface="Arial"/>
              </a:rPr>
              <a:t>✓  </a:t>
            </a:r>
            <a:r>
              <a:rPr sz="1400" b="1" i="0">
                <a:solidFill>
                  <a:srgbClr val="F0EEF8"/>
                </a:solidFill>
                <a:latin typeface="Arial"/>
              </a:rPr>
              <a:t>Full 108-card rules engine — </a:t>
            </a:r>
            <a:r>
              <a:rPr sz="1300" b="0" i="0">
                <a:solidFill>
                  <a:srgbClr val="A2A0B8"/>
                </a:solidFill>
                <a:latin typeface="Arial"/>
              </a:rPr>
              <a:t>Skip, Reverse, Draw 2, Wilds, Draw 4 — classic flow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7AE60"/>
                </a:solidFill>
                <a:latin typeface="Arial"/>
              </a:rPr>
              <a:t>✓  </a:t>
            </a:r>
            <a:r>
              <a:rPr sz="1400" b="1" i="0">
                <a:solidFill>
                  <a:srgbClr val="F0EEF8"/>
                </a:solidFill>
                <a:latin typeface="Arial"/>
              </a:rPr>
              <a:t>Lobby with shareable room codes — </a:t>
            </a:r>
            <a:r>
              <a:rPr sz="1300" b="0" i="0">
                <a:solidFill>
                  <a:srgbClr val="A2A0B8"/>
                </a:solidFill>
                <a:latin typeface="Arial"/>
              </a:rPr>
              <a:t>4–8 seats, smart bot fill-ins for absent friends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7AE60"/>
                </a:solidFill>
                <a:latin typeface="Arial"/>
              </a:rPr>
              <a:t>✓  </a:t>
            </a:r>
            <a:r>
              <a:rPr sz="1400" b="1" i="0">
                <a:solidFill>
                  <a:srgbClr val="F0EEF8"/>
                </a:solidFill>
                <a:latin typeface="Arial"/>
              </a:rPr>
              <a:t>Live chat, quick-chat &amp; 8 emotes — </a:t>
            </a:r>
            <a:r>
              <a:rPr sz="1300" b="0" i="0">
                <a:solidFill>
                  <a:srgbClr val="A2A0B8"/>
                </a:solidFill>
                <a:latin typeface="Arial"/>
              </a:rPr>
              <a:t>Banter without typing; safe canned lines only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7AE60"/>
                </a:solidFill>
                <a:latin typeface="Arial"/>
              </a:rPr>
              <a:t>✓  </a:t>
            </a:r>
            <a:r>
              <a:rPr sz="1400" b="1" i="0">
                <a:solidFill>
                  <a:srgbClr val="F0EEF8"/>
                </a:solidFill>
                <a:latin typeface="Arial"/>
              </a:rPr>
              <a:t>Theme picker with live reskin — </a:t>
            </a:r>
            <a:r>
              <a:rPr sz="1300" b="0" i="0">
                <a:solidFill>
                  <a:srgbClr val="A2A0B8"/>
                </a:solidFill>
                <a:latin typeface="Arial"/>
              </a:rPr>
              <a:t>Swap festival tables mid-lobby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7AE60"/>
                </a:solidFill>
                <a:latin typeface="Arial"/>
              </a:rPr>
              <a:t>✓  </a:t>
            </a:r>
            <a:r>
              <a:rPr sz="1400" b="1" i="0">
                <a:solidFill>
                  <a:srgbClr val="F0EEF8"/>
                </a:solidFill>
                <a:latin typeface="Arial"/>
              </a:rPr>
              <a:t>Persistent wallet &amp; store profile — </a:t>
            </a:r>
            <a:r>
              <a:rPr sz="1300" b="0" i="0">
                <a:solidFill>
                  <a:srgbClr val="A2A0B8"/>
                </a:solidFill>
                <a:latin typeface="Arial"/>
              </a:rPr>
              <a:t>Coins, inventory and equips survive refresh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920240"/>
            <a:ext cx="4782312" cy="4114800"/>
          </a:xfrm>
          <a:prstGeom prst="roundRect">
            <a:avLst>
              <a:gd name="adj" fmla="val 5500"/>
            </a:avLst>
          </a:prstGeom>
          <a:solidFill>
            <a:srgbClr val="22222E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5739" rIns="274320" bIns="205739" rtlCol="0" anchor="t"/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F5C400"/>
                </a:solidFill>
                <a:latin typeface="Arial"/>
              </a:rPr>
              <a:t>60-SECOND DEMO FLOW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F5C400"/>
                </a:solidFill>
                <a:latin typeface="Arial"/>
              </a:rPr>
              <a:t>1   </a:t>
            </a:r>
            <a:r>
              <a:rPr sz="1400" b="0" i="0">
                <a:solidFill>
                  <a:srgbClr val="F0EEF8"/>
                </a:solidFill>
                <a:latin typeface="Arial"/>
              </a:rPr>
              <a:t>Open the link — no signup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F5C400"/>
                </a:solidFill>
                <a:latin typeface="Arial"/>
              </a:rPr>
              <a:t>2   </a:t>
            </a:r>
            <a:r>
              <a:rPr sz="1400" b="0" i="0">
                <a:solidFill>
                  <a:srgbClr val="F0EEF8"/>
                </a:solidFill>
                <a:latin typeface="Arial"/>
              </a:rPr>
              <a:t>Add friends via code (or bots)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F5C400"/>
                </a:solidFill>
                <a:latin typeface="Arial"/>
              </a:rPr>
              <a:t>3   </a:t>
            </a:r>
            <a:r>
              <a:rPr sz="1400" b="0" i="0">
                <a:solidFill>
                  <a:srgbClr val="F0EEF8"/>
                </a:solidFill>
                <a:latin typeface="Arial"/>
              </a:rPr>
              <a:t>Play a round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F5C400"/>
                </a:solidFill>
                <a:latin typeface="Arial"/>
              </a:rPr>
              <a:t>4   </a:t>
            </a:r>
            <a:r>
              <a:rPr sz="1400" b="0" i="0">
                <a:solidFill>
                  <a:srgbClr val="F0EEF8"/>
                </a:solidFill>
                <a:latin typeface="Arial"/>
              </a:rPr>
              <a:t>Win coins at the payout screen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F5C400"/>
                </a:solidFill>
                <a:latin typeface="Arial"/>
              </a:rPr>
              <a:t>5   </a:t>
            </a:r>
            <a:r>
              <a:rPr sz="1400" b="0" i="0">
                <a:solidFill>
                  <a:srgbClr val="F0EEF8"/>
                </a:solidFill>
                <a:latin typeface="Arial"/>
              </a:rPr>
              <a:t>Spend them in the store</a:t>
            </a:r>
          </a:p>
          <a:p>
            <a:pPr algn="l"/>
            <a:r>
              <a:rPr sz="1250" b="0" i="1">
                <a:solidFill>
                  <a:srgbClr val="A2A0B8"/>
                </a:solidFill>
                <a:latin typeface="Arial"/>
              </a:rPr>
              <a:t>→ then do it again, but stylish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4476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A2A0B8"/>
                </a:solidFill>
                <a:latin typeface="Arial"/>
              </a:rPr>
              <a:t>Everything on this slide works today — ask us for the live demo.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2A0B8"/>
                </a:solidFill>
                <a:latin typeface="Arial"/>
              </a:rPr>
              <a:t>UNO ONLINE · HACKATHON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A2A0B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8111" y="566928"/>
            <a:ext cx="118872" cy="118872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40135" y="566928"/>
            <a:ext cx="118872" cy="118872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2159" y="566928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4183" y="566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Arial"/>
              </a:rP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0EEF8"/>
                </a:solidFill>
                <a:latin typeface="Arial"/>
              </a:rPr>
              <a:t>Riding the biggest wave in gaming.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484778" cy="178308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78308" rIns="237744" bIns="178308" rtlCol="0" anchor="t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3B82F6"/>
                </a:solidFill>
                <a:latin typeface="Arial"/>
              </a:rPr>
              <a:t>$90B+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0EEF8"/>
                </a:solidFill>
                <a:latin typeface="Arial"/>
              </a:rPr>
              <a:t>annual mobile-game revenue</a:t>
            </a:r>
          </a:p>
          <a:p>
            <a:pPr algn="l"/>
            <a:r>
              <a:rPr sz="1150" b="0" i="0">
                <a:solidFill>
                  <a:srgbClr val="A2A0B8"/>
                </a:solidFill>
                <a:latin typeface="Arial"/>
              </a:rPr>
              <a:t>industry estimates,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1965960"/>
            <a:ext cx="3484778" cy="178308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78308" rIns="237744" bIns="178308" rtlCol="0" anchor="t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3B82F6"/>
                </a:solidFill>
                <a:latin typeface="Arial"/>
              </a:rPr>
              <a:t>500M+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0EEF8"/>
                </a:solidFill>
                <a:latin typeface="Arial"/>
              </a:rPr>
              <a:t>downloads — Ludo King</a:t>
            </a:r>
          </a:p>
          <a:p>
            <a:pPr algn="l"/>
            <a:r>
              <a:rPr sz="1150" b="0" i="0">
                <a:solidFill>
                  <a:srgbClr val="A2A0B8"/>
                </a:solidFill>
                <a:latin typeface="Arial"/>
              </a:rPr>
              <a:t>proof familiar tabletop IP goes viral online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8276" y="1965960"/>
            <a:ext cx="3484778" cy="178308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78308" rIns="237744" bIns="178308" rtlCol="0" anchor="t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3B82F6"/>
                </a:solidFill>
                <a:latin typeface="Arial"/>
              </a:rPr>
              <a:t>~100%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0EEF8"/>
                </a:solidFill>
                <a:latin typeface="Arial"/>
              </a:rPr>
              <a:t>brand recognition of UNO</a:t>
            </a:r>
          </a:p>
          <a:p>
            <a:pPr algn="l"/>
            <a:r>
              <a:rPr sz="1150" b="0" i="0">
                <a:solidFill>
                  <a:srgbClr val="A2A0B8"/>
                </a:solidFill>
                <a:latin typeface="Arial"/>
              </a:rPr>
              <a:t>nearly everyone already knows the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11094415" cy="210312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5739" rIns="274320" bIns="205739" rtlCol="0" anchor="t"/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3B82F6"/>
                </a:solidFill>
                <a:latin typeface="Arial"/>
              </a:rPr>
              <a:t>WHY WE WIN THIS MARKET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3B82F6"/>
                </a:solidFill>
                <a:latin typeface="Arial"/>
              </a:rPr>
              <a:t>•  </a:t>
            </a:r>
            <a:r>
              <a:rPr sz="1400" b="1" i="0">
                <a:solidFill>
                  <a:srgbClr val="F0EEF8"/>
                </a:solidFill>
                <a:latin typeface="Arial"/>
              </a:rPr>
              <a:t>Zero learning cost — </a:t>
            </a:r>
            <a:r>
              <a:rPr sz="1400" b="0" i="0">
                <a:solidFill>
                  <a:srgbClr val="A2A0B8"/>
                </a:solidFill>
                <a:latin typeface="Arial"/>
              </a:rPr>
              <a:t>the rules are cultural knowledge; onboarding is one screen.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3B82F6"/>
                </a:solidFill>
                <a:latin typeface="Arial"/>
              </a:rPr>
              <a:t>•  </a:t>
            </a:r>
            <a:r>
              <a:rPr sz="1400" b="1" i="0">
                <a:solidFill>
                  <a:srgbClr val="F0EEF8"/>
                </a:solidFill>
                <a:latin typeface="Arial"/>
              </a:rPr>
              <a:t>Built-in virality — </a:t>
            </a:r>
            <a:r>
              <a:rPr sz="1400" b="0" i="0">
                <a:solidFill>
                  <a:srgbClr val="A2A0B8"/>
                </a:solidFill>
                <a:latin typeface="Arial"/>
              </a:rPr>
              <a:t>every match needs 4–8 players, so every table invites its own players.</a:t>
            </a:r>
          </a:p>
          <a:p>
            <a:pPr algn="l"/>
            <a:r>
              <a:rPr sz="1400" b="1" i="0">
                <a:solidFill>
                  <a:srgbClr val="3B82F6"/>
                </a:solidFill>
                <a:latin typeface="Arial"/>
              </a:rPr>
              <a:t>•  </a:t>
            </a:r>
            <a:r>
              <a:rPr sz="1400" b="1" i="0">
                <a:solidFill>
                  <a:srgbClr val="F0EEF8"/>
                </a:solidFill>
                <a:latin typeface="Arial"/>
              </a:rPr>
              <a:t>Festival content engine — </a:t>
            </a:r>
            <a:r>
              <a:rPr sz="1400" b="0" i="0">
                <a:solidFill>
                  <a:srgbClr val="A2A0B8"/>
                </a:solidFill>
                <a:latin typeface="Arial"/>
              </a:rPr>
              <a:t>tuned for India &amp; SEA’s massive festive spending seasons.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2A0B8"/>
                </a:solidFill>
                <a:latin typeface="Arial"/>
              </a:rPr>
              <a:t>UNO ONLINE · HACKATHON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A2A0B8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8111" y="566928"/>
            <a:ext cx="118872" cy="118872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40135" y="566928"/>
            <a:ext cx="118872" cy="118872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2159" y="566928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4183" y="566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Arial"/>
              </a:rPr>
              <a:t>MONETIZATION PHILOSOPHY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0EEF8"/>
                </a:solidFill>
                <a:latin typeface="Arial"/>
              </a:rPr>
              <a:t>We sell style, not wins.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484778" cy="292608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92024" rIns="256032" bIns="192024" rtlCol="0" anchor="t"/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F0EEF8"/>
                </a:solidFill>
                <a:latin typeface="Arial"/>
              </a:rPr>
              <a:t>✨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7AE60"/>
                </a:solidFill>
                <a:latin typeface="Arial"/>
              </a:rPr>
              <a:t>Cosmetic-first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A2A0B8"/>
                </a:solidFill>
                <a:latin typeface="Arial"/>
              </a:rPr>
              <a:t>Card backs, table felts, avatars. Nothing in the store touches gameplay odds or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1965960"/>
            <a:ext cx="3484778" cy="292608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92024" rIns="256032" bIns="192024" rtlCol="0" anchor="t"/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F0EEF8"/>
                </a:solidFill>
                <a:latin typeface="Arial"/>
              </a:rPr>
              <a:t>🪙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7AE60"/>
                </a:solidFill>
                <a:latin typeface="Arial"/>
              </a:rPr>
              <a:t>Earnable everything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A2A0B8"/>
                </a:solidFill>
                <a:latin typeface="Arial"/>
              </a:rPr>
              <a:t>Every item can be bought with coins won by playing. Cash buys time — never power.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8276" y="1965960"/>
            <a:ext cx="3484778" cy="292608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92024" rIns="256032" bIns="192024" rtlCol="0" anchor="t"/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F0EEF8"/>
                </a:solidFill>
                <a:latin typeface="Arial"/>
              </a:rPr>
              <a:t>🤝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7AE60"/>
                </a:solidFill>
                <a:latin typeface="Arial"/>
              </a:rPr>
              <a:t>Trust compounds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A2A0B8"/>
                </a:solidFill>
                <a:latin typeface="Arial"/>
              </a:rPr>
              <a:t>No mid-game ads, no energy timers, no loot boxes. Fair games keep players — and payers — for years.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11094415" cy="914400"/>
          </a:xfrm>
          <a:prstGeom prst="roundRect">
            <a:avLst>
              <a:gd name="adj" fmla="val 5500"/>
            </a:avLst>
          </a:prstGeom>
          <a:solidFill>
            <a:srgbClr val="0E2A1A"/>
          </a:solidFill>
          <a:ln w="12700">
            <a:solidFill>
              <a:srgbClr val="1F5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5739" rIns="274320" bIns="205739" rtlCol="0" anchor="ctr"/>
          <a:lstStyle/>
          <a:p>
            <a:pPr algn="ctr"/>
            <a:r>
              <a:rPr sz="1550" b="0" i="1">
                <a:solidFill>
                  <a:srgbClr val="F0EEF8"/>
                </a:solidFill>
                <a:latin typeface="Arial"/>
              </a:rPr>
              <a:t>“Pay-to-win kills card games. We’re building the one players trust enough to keep open.”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2A0B8"/>
                </a:solidFill>
                <a:latin typeface="Arial"/>
              </a:rPr>
              <a:t>UNO ONLINE · HACKATHON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A2A0B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8111" y="566928"/>
            <a:ext cx="118872" cy="118872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40135" y="566928"/>
            <a:ext cx="118872" cy="118872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2159" y="566928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4183" y="566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5C400"/>
                </a:solidFill>
                <a:latin typeface="Arial"/>
              </a:rPr>
              <a:t>THE ECONOMY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0EEF8"/>
                </a:solidFill>
                <a:latin typeface="Arial"/>
              </a:rPr>
              <a:t>Play → Earn → Flex → Invite.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874519" cy="1417320"/>
          </a:xfrm>
          <a:prstGeom prst="roundRect">
            <a:avLst>
              <a:gd name="adj" fmla="val 5500"/>
            </a:avLst>
          </a:prstGeom>
          <a:solidFill>
            <a:srgbClr val="22222E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82296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5C400"/>
                </a:solidFill>
                <a:latin typeface="Arial"/>
              </a:rPr>
              <a:t>PLAY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2A0B8"/>
                </a:solidFill>
                <a:latin typeface="Arial"/>
              </a:rPr>
              <a:t>a round with friends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450592"/>
            <a:ext cx="429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5C400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7" y="2011680"/>
            <a:ext cx="1874519" cy="1417320"/>
          </a:xfrm>
          <a:prstGeom prst="roundRect">
            <a:avLst>
              <a:gd name="adj" fmla="val 5500"/>
            </a:avLst>
          </a:prstGeom>
          <a:solidFill>
            <a:srgbClr val="22222E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82296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5C400"/>
                </a:solidFill>
                <a:latin typeface="Arial"/>
              </a:rPr>
              <a:t>EARN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2A0B8"/>
                </a:solidFill>
                <a:latin typeface="Arial"/>
              </a:rPr>
              <a:t>coins — win ≈300 in a 4-player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450592"/>
            <a:ext cx="429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5C400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7215" y="2011680"/>
            <a:ext cx="1874519" cy="1417320"/>
          </a:xfrm>
          <a:prstGeom prst="roundRect">
            <a:avLst>
              <a:gd name="adj" fmla="val 5500"/>
            </a:avLst>
          </a:prstGeom>
          <a:solidFill>
            <a:srgbClr val="22222E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82296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5C400"/>
                </a:solidFill>
                <a:latin typeface="Arial"/>
              </a:rPr>
              <a:t>SPEND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2A0B8"/>
                </a:solidFill>
                <a:latin typeface="Arial"/>
              </a:rPr>
              <a:t>on skins, tables &amp;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5" y="2450592"/>
            <a:ext cx="429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5C400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61503" y="2011680"/>
            <a:ext cx="1874519" cy="1417320"/>
          </a:xfrm>
          <a:prstGeom prst="roundRect">
            <a:avLst>
              <a:gd name="adj" fmla="val 5500"/>
            </a:avLst>
          </a:prstGeom>
          <a:solidFill>
            <a:srgbClr val="22222E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82296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5C400"/>
                </a:solidFill>
                <a:latin typeface="Arial"/>
              </a:rPr>
              <a:t>FLEX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2A0B8"/>
                </a:solidFill>
                <a:latin typeface="Arial"/>
              </a:rPr>
              <a:t>rare cosmetics at the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6023" y="2450592"/>
            <a:ext cx="429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5C40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65791" y="2011680"/>
            <a:ext cx="1874519" cy="1417320"/>
          </a:xfrm>
          <a:prstGeom prst="roundRect">
            <a:avLst>
              <a:gd name="adj" fmla="val 5500"/>
            </a:avLst>
          </a:prstGeom>
          <a:solidFill>
            <a:srgbClr val="22222E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82296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5C400"/>
                </a:solidFill>
                <a:latin typeface="Arial"/>
              </a:rPr>
              <a:t>INVITE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2A0B8"/>
                </a:solidFill>
                <a:latin typeface="Arial"/>
              </a:rPr>
              <a:t>friends come see it — 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11094415" cy="228600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5739" rIns="274320" bIns="205739" rtlCol="0" anchor="t"/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F5C400"/>
                </a:solidFill>
                <a:latin typeface="Arial"/>
              </a:rPr>
              <a:t>TUNED FAUCETS &amp; SINKS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7AE60"/>
                </a:solidFill>
                <a:latin typeface="Arial"/>
              </a:rPr>
              <a:t>🪙 </a:t>
            </a:r>
            <a:r>
              <a:rPr sz="1350" b="0" i="0">
                <a:solidFill>
                  <a:srgbClr val="F0EEF8"/>
                </a:solidFill>
                <a:latin typeface="Arial"/>
              </a:rPr>
              <a:t>Win pays 120 + 60 × (players − 1)</a:t>
            </a:r>
            <a:r>
              <a:rPr sz="1300" b="1" i="0">
                <a:solidFill>
                  <a:srgbClr val="E02216"/>
                </a:solidFill>
                <a:latin typeface="Arial"/>
              </a:rPr>
              <a:t>      🎰 </a:t>
            </a:r>
            <a:r>
              <a:rPr sz="1350" b="0" i="0">
                <a:solidFill>
                  <a:srgbClr val="F0EEF8"/>
                </a:solidFill>
                <a:latin typeface="Arial"/>
              </a:rPr>
              <a:t>Cosmetics priced 400 – 5,000 coins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7AE60"/>
                </a:solidFill>
                <a:latin typeface="Arial"/>
              </a:rPr>
              <a:t>🪙 </a:t>
            </a:r>
            <a:r>
              <a:rPr sz="1350" b="0" i="0">
                <a:solidFill>
                  <a:srgbClr val="F0EEF8"/>
                </a:solidFill>
                <a:latin typeface="Arial"/>
              </a:rPr>
              <a:t>Consolation up to 45 keeps everyone progressing</a:t>
            </a:r>
            <a:r>
              <a:rPr sz="1300" b="1" i="0">
                <a:solidFill>
                  <a:srgbClr val="E02216"/>
                </a:solidFill>
                <a:latin typeface="Arial"/>
              </a:rPr>
              <a:t>      🎰 </a:t>
            </a:r>
            <a:r>
              <a:rPr sz="1350" b="0" i="0">
                <a:solidFill>
                  <a:srgbClr val="F0EEF8"/>
                </a:solidFill>
                <a:latin typeface="Arial"/>
              </a:rPr>
              <a:t>Premium modes 3,000 – 5,000 coins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7AE60"/>
                </a:solidFill>
                <a:latin typeface="Arial"/>
              </a:rPr>
              <a:t>🪙 </a:t>
            </a:r>
            <a:r>
              <a:rPr sz="1350" b="0" i="0">
                <a:solidFill>
                  <a:srgbClr val="F0EEF8"/>
                </a:solidFill>
                <a:latin typeface="Arial"/>
              </a:rPr>
              <a:t>Harder variants pay 1.5–2× (Flip, No Mercy)</a:t>
            </a:r>
            <a:r>
              <a:rPr sz="1300" b="1" i="0">
                <a:solidFill>
                  <a:srgbClr val="E02216"/>
                </a:solidFill>
                <a:latin typeface="Arial"/>
              </a:rPr>
              <a:t>      🎰 </a:t>
            </a:r>
            <a:r>
              <a:rPr sz="1350" b="0" i="0">
                <a:solidFill>
                  <a:srgbClr val="F0EEF8"/>
                </a:solidFill>
                <a:latin typeface="Arial"/>
              </a:rPr>
              <a:t>Impatient? Coin bundles start at $0.99</a:t>
            </a:r>
          </a:p>
          <a:p>
            <a:pPr algn="l"/>
            <a:r>
              <a:rPr sz="1300" b="0" i="1">
                <a:solidFill>
                  <a:srgbClr val="A2A0B8"/>
                </a:solidFill>
                <a:latin typeface="Arial"/>
              </a:rPr>
              <a:t>Every session mints soft currency; every desire spends it. Money only ever shortens the grind — it can’t buy a win.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2A0B8"/>
                </a:solidFill>
                <a:latin typeface="Arial"/>
              </a:rPr>
              <a:t>UNO ONLINE · HACKATHON PITCH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A2A0B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8111" y="566928"/>
            <a:ext cx="118872" cy="118872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40135" y="566928"/>
            <a:ext cx="118872" cy="118872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2159" y="566928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4183" y="566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02216"/>
                </a:solidFill>
                <a:latin typeface="Arial"/>
              </a:rPr>
              <a:t>REVENUE STREAMS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0EEF8"/>
                </a:solidFill>
                <a:latin typeface="Arial"/>
              </a:rPr>
              <a:t>Four ways a free game pays 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5387187" cy="2084831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78308" rIns="237744" bIns="178308" rtlCol="0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0EEF8"/>
                </a:solidFill>
                <a:latin typeface="Arial"/>
              </a:rPr>
              <a:t>💰  </a:t>
            </a:r>
            <a:r>
              <a:rPr sz="1700" b="1" i="0">
                <a:solidFill>
                  <a:srgbClr val="E02216"/>
                </a:solidFill>
                <a:latin typeface="Arial"/>
              </a:rPr>
              <a:t>Coin bundles (IAP)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C400"/>
                </a:solidFill>
                <a:latin typeface="Arial"/>
              </a:rPr>
              <a:t>500/$0.99 · 1,500/$2.49 ★ · 5,000/$6.99 · 15,000/$14.99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The hard-currency tap for impatient collectors. Anchor bundle flagged “Popular”.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920240"/>
            <a:ext cx="5387187" cy="2084831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78308" rIns="237744" bIns="178308" rtlCol="0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0EEF8"/>
                </a:solidFill>
                <a:latin typeface="Arial"/>
              </a:rPr>
              <a:t>🎟️  </a:t>
            </a:r>
            <a:r>
              <a:rPr sz="1700" b="1" i="0">
                <a:solidFill>
                  <a:srgbClr val="8B5CF6"/>
                </a:solidFill>
                <a:latin typeface="Arial"/>
              </a:rPr>
              <a:t>Season passes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C400"/>
                </a:solidFill>
                <a:latin typeface="Arial"/>
              </a:rPr>
              <a:t>Limited festival packs — Lunar New Year, Yuletide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Scarcity-driven, calendar-recurring revenue. They return next year, better.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33672"/>
            <a:ext cx="5387187" cy="2084831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78308" rIns="237744" bIns="178308" rtlCol="0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0EEF8"/>
                </a:solidFill>
                <a:latin typeface="Arial"/>
              </a:rPr>
              <a:t>✨  </a:t>
            </a:r>
            <a:r>
              <a:rPr sz="1700" b="1" i="0">
                <a:solidFill>
                  <a:srgbClr val="3B82F6"/>
                </a:solidFill>
                <a:latin typeface="Arial"/>
              </a:rPr>
              <a:t>Cosmetics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C400"/>
                </a:solidFill>
                <a:latin typeface="Arial"/>
              </a:rPr>
              <a:t>Card backs 800–2,600 · tables 900–2,400 · avatars 400–2,000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Infinite SKU runway with zero balance impact — the healthiest revenue in gaming.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4233672"/>
            <a:ext cx="5387187" cy="2084831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78308" rIns="237744" bIns="178308" rtlCol="0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0EEF8"/>
                </a:solidFill>
                <a:latin typeface="Arial"/>
              </a:rPr>
              <a:t>🕹️  </a:t>
            </a:r>
            <a:r>
              <a:rPr sz="1700" b="1" i="0">
                <a:solidFill>
                  <a:srgbClr val="27AE60"/>
                </a:solidFill>
                <a:latin typeface="Arial"/>
              </a:rPr>
              <a:t>Premium modes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C400"/>
                </a:solidFill>
                <a:latin typeface="Arial"/>
              </a:rPr>
              <a:t>UNO Flip 3,000 · No Mercy 5,000 coins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One-time unlocks that double as veteran status symbols — and pay 1.5–2× 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2A0B8"/>
                </a:solidFill>
                <a:latin typeface="Arial"/>
              </a:rPr>
              <a:t>UNO ONLINE · HACKATHON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A2A0B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8111" y="566928"/>
            <a:ext cx="118872" cy="118872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40135" y="566928"/>
            <a:ext cx="118872" cy="118872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2159" y="566928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4183" y="566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Arial"/>
              </a:rPr>
              <a:t>OUR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0EEF8"/>
                </a:solidFill>
                <a:latin typeface="Arial"/>
              </a:rPr>
              <a:t>A revenue event every few weeks.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59" y="3035808"/>
            <a:ext cx="10545775" cy="274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2519857" cy="201168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96012" rtlCol="0" anchor="ctr"/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8B5CF6"/>
                </a:solidFill>
                <a:latin typeface="Arial"/>
              </a:rPr>
              <a:t>JAN/FEB</a:t>
            </a:r>
          </a:p>
          <a:p>
            <a:pPr algn="ctr">
              <a:spcAft>
                <a:spcPts val="600"/>
              </a:spcAft>
            </a:pPr>
            <a:r>
              <a:rPr sz="3000" b="0" i="0">
                <a:solidFill>
                  <a:srgbClr val="F0EEF8"/>
                </a:solidFill>
                <a:latin typeface="Arial"/>
              </a:rPr>
              <a:t>🧧</a:t>
            </a:r>
          </a:p>
          <a:p>
            <a:pPr algn="ctr">
              <a:spcAft>
                <a:spcPts val="300"/>
              </a:spcAft>
            </a:pPr>
            <a:r>
              <a:rPr sz="1550" b="1" i="0">
                <a:solidFill>
                  <a:srgbClr val="F0EEF8"/>
                </a:solidFill>
                <a:latin typeface="Arial"/>
              </a:rPr>
              <a:t>Lunar New Year</a:t>
            </a:r>
          </a:p>
          <a:p>
            <a:pPr algn="ctr"/>
            <a:r>
              <a:rPr sz="1150" b="0" i="0">
                <a:solidFill>
                  <a:srgbClr val="A2A0B8"/>
                </a:solidFill>
                <a:latin typeface="Arial"/>
              </a:rPr>
              <a:t>Season-pass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6825" y="2103120"/>
            <a:ext cx="2519857" cy="201168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96012" rtlCol="0" anchor="ctr"/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8B5CF6"/>
                </a:solidFill>
                <a:latin typeface="Arial"/>
              </a:rPr>
              <a:t>MAR</a:t>
            </a:r>
          </a:p>
          <a:p>
            <a:pPr algn="ctr">
              <a:spcAft>
                <a:spcPts val="600"/>
              </a:spcAft>
            </a:pPr>
            <a:r>
              <a:rPr sz="3000" b="0" i="0">
                <a:solidFill>
                  <a:srgbClr val="F0EEF8"/>
                </a:solidFill>
                <a:latin typeface="Arial"/>
              </a:rPr>
              <a:t>🎨</a:t>
            </a:r>
          </a:p>
          <a:p>
            <a:pPr algn="ctr">
              <a:spcAft>
                <a:spcPts val="300"/>
              </a:spcAft>
            </a:pPr>
            <a:r>
              <a:rPr sz="1550" b="1" i="0">
                <a:solidFill>
                  <a:srgbClr val="F0EEF8"/>
                </a:solidFill>
                <a:latin typeface="Arial"/>
              </a:rPr>
              <a:t>Holi</a:t>
            </a:r>
          </a:p>
          <a:p>
            <a:pPr algn="ctr"/>
            <a:r>
              <a:rPr sz="1150" b="0" i="0">
                <a:solidFill>
                  <a:srgbClr val="A2A0B8"/>
                </a:solidFill>
                <a:latin typeface="Arial"/>
              </a:rPr>
              <a:t>Coin pack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5011" y="2103120"/>
            <a:ext cx="2519857" cy="201168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96012" rtlCol="0" anchor="ctr"/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8B5CF6"/>
                </a:solidFill>
                <a:latin typeface="Arial"/>
              </a:rPr>
              <a:t>OCT/NOV</a:t>
            </a:r>
          </a:p>
          <a:p>
            <a:pPr algn="ctr">
              <a:spcAft>
                <a:spcPts val="600"/>
              </a:spcAft>
            </a:pPr>
            <a:r>
              <a:rPr sz="3000" b="0" i="0">
                <a:solidFill>
                  <a:srgbClr val="F0EEF8"/>
                </a:solidFill>
                <a:latin typeface="Arial"/>
              </a:rPr>
              <a:t>🪔</a:t>
            </a:r>
          </a:p>
          <a:p>
            <a:pPr algn="ctr">
              <a:spcAft>
                <a:spcPts val="300"/>
              </a:spcAft>
            </a:pPr>
            <a:r>
              <a:rPr sz="1550" b="1" i="0">
                <a:solidFill>
                  <a:srgbClr val="F0EEF8"/>
                </a:solidFill>
                <a:latin typeface="Arial"/>
              </a:rPr>
              <a:t>Diwali</a:t>
            </a:r>
          </a:p>
          <a:p>
            <a:pPr algn="ctr"/>
            <a:r>
              <a:rPr sz="1150" b="0" i="0">
                <a:solidFill>
                  <a:srgbClr val="A2A0B8"/>
                </a:solidFill>
                <a:latin typeface="Arial"/>
              </a:rPr>
              <a:t>Coin pack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23197" y="2103120"/>
            <a:ext cx="2519857" cy="201168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96012" rtlCol="0" anchor="ctr"/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8B5CF6"/>
                </a:solidFill>
                <a:latin typeface="Arial"/>
              </a:rPr>
              <a:t>DEC</a:t>
            </a:r>
          </a:p>
          <a:p>
            <a:pPr algn="ctr">
              <a:spcAft>
                <a:spcPts val="600"/>
              </a:spcAft>
            </a:pPr>
            <a:r>
              <a:rPr sz="3000" b="0" i="0">
                <a:solidFill>
                  <a:srgbClr val="F0EEF8"/>
                </a:solidFill>
                <a:latin typeface="Arial"/>
              </a:rPr>
              <a:t>🎄</a:t>
            </a:r>
          </a:p>
          <a:p>
            <a:pPr algn="ctr">
              <a:spcAft>
                <a:spcPts val="300"/>
              </a:spcAft>
            </a:pPr>
            <a:r>
              <a:rPr sz="1550" b="1" i="0">
                <a:solidFill>
                  <a:srgbClr val="F0EEF8"/>
                </a:solidFill>
                <a:latin typeface="Arial"/>
              </a:rPr>
              <a:t>Yuletide</a:t>
            </a:r>
          </a:p>
          <a:p>
            <a:pPr algn="ctr"/>
            <a:r>
              <a:rPr sz="1150" b="0" i="0">
                <a:solidFill>
                  <a:srgbClr val="A2A0B8"/>
                </a:solidFill>
                <a:latin typeface="Arial"/>
              </a:rPr>
              <a:t>Season-pass pack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26280"/>
            <a:ext cx="11094415" cy="160020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5739" rIns="274320" bIns="205739" rtlCol="0" anchor="t"/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8B5CF6"/>
                </a:solidFill>
                <a:latin typeface="Arial"/>
              </a:rPr>
              <a:t>•  </a:t>
            </a:r>
            <a:r>
              <a:rPr sz="1350" b="1" i="0">
                <a:solidFill>
                  <a:srgbClr val="F0EEF8"/>
                </a:solidFill>
                <a:latin typeface="Arial"/>
              </a:rPr>
              <a:t>Regional relevance — </a:t>
            </a:r>
            <a:r>
              <a:rPr sz="1350" b="0" i="0">
                <a:solidFill>
                  <a:srgbClr val="A2A0B8"/>
                </a:solidFill>
                <a:latin typeface="Arial"/>
              </a:rPr>
              <a:t>installs spike during India &amp; SEA festive seasons, the highest-spend weeks of the year.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8B5CF6"/>
                </a:solidFill>
                <a:latin typeface="Arial"/>
              </a:rPr>
              <a:t>•  </a:t>
            </a:r>
            <a:r>
              <a:rPr sz="1350" b="1" i="0">
                <a:solidFill>
                  <a:srgbClr val="F0EEF8"/>
                </a:solidFill>
                <a:latin typeface="Arial"/>
              </a:rPr>
              <a:t>Urgency without dark patterns — </a:t>
            </a:r>
            <a:r>
              <a:rPr sz="1350" b="0" i="0">
                <a:solidFill>
                  <a:srgbClr val="A2A0B8"/>
                </a:solidFill>
                <a:latin typeface="Arial"/>
              </a:rPr>
              <a:t>limited packs return next year, better than before.</a:t>
            </a:r>
          </a:p>
          <a:p>
            <a:pPr algn="l"/>
            <a:r>
              <a:rPr sz="1350" b="1" i="0">
                <a:solidFill>
                  <a:srgbClr val="8B5CF6"/>
                </a:solidFill>
                <a:latin typeface="Arial"/>
              </a:rPr>
              <a:t>•  </a:t>
            </a:r>
            <a:r>
              <a:rPr sz="1350" b="1" i="0">
                <a:solidFill>
                  <a:srgbClr val="F0EEF8"/>
                </a:solidFill>
                <a:latin typeface="Arial"/>
              </a:rPr>
              <a:t>Reactivation machine — </a:t>
            </a:r>
            <a:r>
              <a:rPr sz="1350" b="0" i="0">
                <a:solidFill>
                  <a:srgbClr val="A2A0B8"/>
                </a:solidFill>
                <a:latin typeface="Arial"/>
              </a:rPr>
              <a:t>every drop is a push notification that lapsed players actually want.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2A0B8"/>
                </a:solidFill>
                <a:latin typeface="Arial"/>
              </a:rPr>
              <a:t>UNO ONLINE · HACKATHON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A2A0B8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8111" y="566928"/>
            <a:ext cx="118872" cy="118872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40135" y="566928"/>
            <a:ext cx="118872" cy="118872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2159" y="566928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4183" y="566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Arial"/>
              </a:rPr>
              <a:t>WHY IT CONVERTS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0EEF8"/>
                </a:solidFill>
                <a:latin typeface="Arial"/>
              </a:rPr>
              <a:t>Virality is baked into every match.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484778" cy="173736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t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27AE60"/>
                </a:solidFill>
                <a:latin typeface="Arial"/>
              </a:rPr>
              <a:t>≈$0 CAC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Every room invite is an organic install — 4–8 player tables recruit their own players.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1965960"/>
            <a:ext cx="3484778" cy="173736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t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27AE60"/>
                </a:solidFill>
                <a:latin typeface="Arial"/>
              </a:rPr>
              <a:t>2–5%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Typical casual payer conversion — cosmetic-led stores trend to the high end of that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8276" y="1965960"/>
            <a:ext cx="3484778" cy="173736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t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27AE60"/>
                </a:solidFill>
                <a:latin typeface="Arial"/>
              </a:rPr>
              <a:t>1.5–2×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Variant multipliers make premium modes self-earning for engaged spenders.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11094415" cy="2103120"/>
          </a:xfrm>
          <a:prstGeom prst="roundRect">
            <a:avLst>
              <a:gd name="adj" fmla="val 5500"/>
            </a:avLst>
          </a:prstGeom>
          <a:solidFill>
            <a:srgbClr val="22222E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5739" rIns="274320" bIns="205739" rtlCol="0" anchor="t"/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27AE60"/>
                </a:solidFill>
                <a:latin typeface="Arial"/>
              </a:rPr>
              <a:t>ILLUSTRATIVE MODEL — NOT A PROMISE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0EEF8"/>
                </a:solidFill>
                <a:latin typeface="Arial"/>
              </a:rPr>
              <a:t>100K MAU  ×  3% payers  ×  $4.50 avg spend  ≈  </a:t>
            </a:r>
            <a:r>
              <a:rPr sz="1600" b="1" i="0">
                <a:solidFill>
                  <a:srgbClr val="F5C400"/>
                </a:solidFill>
                <a:latin typeface="Arial"/>
              </a:rPr>
              <a:t>$13.5K MRR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A2A0B8"/>
                </a:solidFill>
                <a:latin typeface="Arial"/>
              </a:rPr>
              <a:t>+ four festival season-pass waves per year → seasonal spikes on top</a:t>
            </a:r>
          </a:p>
          <a:p>
            <a:pPr algn="l"/>
            <a:r>
              <a:rPr sz="1100" b="0" i="1">
                <a:solidFill>
                  <a:srgbClr val="A2A0B8"/>
                </a:solidFill>
                <a:latin typeface="Arial"/>
              </a:rPr>
              <a:t>Benchmarks from public casual-game industry reports; model is directional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2A0B8"/>
                </a:solidFill>
                <a:latin typeface="Arial"/>
              </a:rPr>
              <a:t>UNO ONLINE · HACKATHON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A2A0B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8111" y="566928"/>
            <a:ext cx="118872" cy="118872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40135" y="566928"/>
            <a:ext cx="118872" cy="118872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2159" y="566928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4183" y="566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5C400"/>
                </a:solidFill>
                <a:latin typeface="Arial"/>
              </a:rPr>
              <a:t>HACKATHON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0EEF8"/>
                </a:solidFill>
                <a:latin typeface="Arial"/>
              </a:rPr>
              <a:t>48 hours. Fully playable.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5387187" cy="288036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5739" rIns="274320" bIns="205739" rtlCol="0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7AE60"/>
                </a:solidFill>
                <a:latin typeface="Arial"/>
              </a:rPr>
              <a:t>✓  </a:t>
            </a:r>
            <a:r>
              <a:rPr sz="1500" b="1" i="0">
                <a:solidFill>
                  <a:srgbClr val="F0EEF8"/>
                </a:solidFill>
                <a:latin typeface="Arial"/>
              </a:rPr>
              <a:t>Complete UNO rules engine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250" b="0" i="0">
                <a:solidFill>
                  <a:srgbClr val="A2A0B8"/>
                </a:solidFill>
                <a:latin typeface="Arial"/>
              </a:rPr>
              <a:t>     pure functions, unit-testable, zero React coupling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7AE60"/>
                </a:solidFill>
                <a:latin typeface="Arial"/>
              </a:rPr>
              <a:t>✓  </a:t>
            </a:r>
            <a:r>
              <a:rPr sz="1500" b="1" i="0">
                <a:solidFill>
                  <a:srgbClr val="F0EEF8"/>
                </a:solidFill>
                <a:latin typeface="Arial"/>
              </a:rPr>
              <a:t>4–8 seat lobby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250" b="0" i="0">
                <a:solidFill>
                  <a:srgbClr val="A2A0B8"/>
                </a:solidFill>
                <a:latin typeface="Arial"/>
              </a:rPr>
              <a:t>     share codes, bot fill-ins, host controls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7AE60"/>
                </a:solidFill>
                <a:latin typeface="Arial"/>
              </a:rPr>
              <a:t>✓  </a:t>
            </a:r>
            <a:r>
              <a:rPr sz="1500" b="1" i="0">
                <a:solidFill>
                  <a:srgbClr val="F0EEF8"/>
                </a:solidFill>
                <a:latin typeface="Arial"/>
              </a:rPr>
              <a:t>Emotes + moderated quick-chat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250" b="0" i="0">
                <a:solidFill>
                  <a:srgbClr val="A2A0B8"/>
                </a:solidFill>
                <a:latin typeface="Arial"/>
              </a:rPr>
              <a:t>     banter without typing; family-safe lines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920240"/>
            <a:ext cx="5387187" cy="288036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5739" rIns="274320" bIns="205739" rtlCol="0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7AE60"/>
                </a:solidFill>
                <a:latin typeface="Arial"/>
              </a:rPr>
              <a:t>✓  </a:t>
            </a:r>
            <a:r>
              <a:rPr sz="1500" b="1" i="0">
                <a:solidFill>
                  <a:srgbClr val="F0EEF8"/>
                </a:solidFill>
                <a:latin typeface="Arial"/>
              </a:rPr>
              <a:t>Persistent wallet &amp; inventory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250" b="0" i="0">
                <a:solidFill>
                  <a:srgbClr val="A2A0B8"/>
                </a:solidFill>
                <a:latin typeface="Arial"/>
              </a:rPr>
              <a:t>     coins, unlocks and equips survive refresh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7AE60"/>
                </a:solidFill>
                <a:latin typeface="Arial"/>
              </a:rPr>
              <a:t>✓  </a:t>
            </a:r>
            <a:r>
              <a:rPr sz="1500" b="1" i="0">
                <a:solidFill>
                  <a:srgbClr val="F0EEF8"/>
                </a:solidFill>
                <a:latin typeface="Arial"/>
              </a:rPr>
              <a:t>Full cosmetic catalogue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250" b="0" i="0">
                <a:solidFill>
                  <a:srgbClr val="A2A0B8"/>
                </a:solidFill>
                <a:latin typeface="Arial"/>
              </a:rPr>
              <a:t>     4 festival themes, felts, skins, avatars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7AE60"/>
                </a:solidFill>
                <a:latin typeface="Arial"/>
              </a:rPr>
              <a:t>✓  </a:t>
            </a:r>
            <a:r>
              <a:rPr sz="1500" b="1" i="0">
                <a:solidFill>
                  <a:srgbClr val="F0EEF8"/>
                </a:solidFill>
                <a:latin typeface="Arial"/>
              </a:rPr>
              <a:t>Economy wired end-to-end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250" b="0" i="0">
                <a:solidFill>
                  <a:srgbClr val="A2A0B8"/>
                </a:solidFill>
                <a:latin typeface="Arial"/>
              </a:rPr>
              <a:t>     bundles, payouts &amp; variant multipliers 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11094415" cy="1005840"/>
          </a:xfrm>
          <a:prstGeom prst="roundRect">
            <a:avLst>
              <a:gd name="adj" fmla="val 5500"/>
            </a:avLst>
          </a:prstGeom>
          <a:solidFill>
            <a:srgbClr val="22222E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/>
            <a:r>
              <a:rPr sz="1150" b="1" i="0">
                <a:solidFill>
                  <a:srgbClr val="F5C400"/>
                </a:solidFill>
                <a:latin typeface="Arial"/>
              </a:rPr>
              <a:t>STACK  </a:t>
            </a:r>
            <a:r>
              <a:rPr sz="1300" b="0" i="0">
                <a:solidFill>
                  <a:srgbClr val="F0EEF8"/>
                </a:solidFill>
                <a:latin typeface="Arial"/>
              </a:rPr>
              <a:t>React 18   ·   Vite   ·   Tailwind v4   ·   Pure-JS engine   ·   WebSocket-ready   ·   Cloud-save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2A0B8"/>
                </a:solidFill>
                <a:latin typeface="Arial"/>
              </a:rPr>
              <a:t>UNO ONLINE · HACKATHON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A2A0B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48111" y="566928"/>
            <a:ext cx="118872" cy="118872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40135" y="566928"/>
            <a:ext cx="118872" cy="118872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2159" y="566928"/>
            <a:ext cx="118872" cy="1188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24183" y="566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Arial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41248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0EEF8"/>
                </a:solidFill>
                <a:latin typeface="Arial"/>
              </a:rPr>
              <a:t>From hackathon demo to household name.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2615869" cy="310896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t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3B82F6"/>
                </a:solidFill>
                <a:latin typeface="Arial"/>
              </a:rPr>
              <a:t>NOW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0EEF8"/>
                </a:solidFill>
                <a:latin typeface="Arial"/>
              </a:rPr>
              <a:t>Cloud multiplayer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Engine is state-diff ready — add accounts &amp; cloud saves.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4509" y="3383280"/>
            <a:ext cx="210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A2A0B8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821" y="2103120"/>
            <a:ext cx="2615869" cy="310896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t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27AE60"/>
                </a:solidFill>
                <a:latin typeface="Arial"/>
              </a:rPr>
              <a:t>+3 MO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0EEF8"/>
                </a:solidFill>
                <a:latin typeface="Arial"/>
              </a:rPr>
              <a:t>Compete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Tournaments, leaderboards, weekly coin events.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0691" y="3383280"/>
            <a:ext cx="210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A2A0B8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1003" y="2103120"/>
            <a:ext cx="2615869" cy="310896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t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F5C400"/>
                </a:solidFill>
                <a:latin typeface="Arial"/>
              </a:rPr>
              <a:t>+6 MO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0EEF8"/>
                </a:solidFill>
                <a:latin typeface="Arial"/>
              </a:rPr>
              <a:t>Go mobile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iOS/Android wrappers; push-driven festival drops.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6873" y="3383280"/>
            <a:ext cx="210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A2A0B8"/>
                </a:solidFill>
                <a:latin typeface="Arial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7185" y="2103120"/>
            <a:ext cx="2615869" cy="3108960"/>
          </a:xfrm>
          <a:prstGeom prst="roundRect">
            <a:avLst>
              <a:gd name="adj" fmla="val 5500"/>
            </a:avLst>
          </a:prstGeom>
          <a:solidFill>
            <a:srgbClr val="1A1A24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t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E02216"/>
                </a:solidFill>
                <a:latin typeface="Arial"/>
              </a:rPr>
              <a:t>+12 MO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0EEF8"/>
                </a:solidFill>
                <a:latin typeface="Arial"/>
              </a:rPr>
              <a:t>Expand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2A0B8"/>
                </a:solidFill>
                <a:latin typeface="Arial"/>
              </a:rPr>
              <a:t>Branded decks &amp; IP collabs, creator tables, opt-in rewarded video.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A2A0B8"/>
                </a:solidFill>
                <a:latin typeface="Arial"/>
              </a:rPr>
              <a:t>UNO ONLINE · HACKATHON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A2A0B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766663" y="914400"/>
            <a:ext cx="137160" cy="137160"/>
          </a:xfrm>
          <a:prstGeom prst="ellipse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986119" y="914400"/>
            <a:ext cx="137160" cy="137160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205575" y="914400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25031" y="91440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 i="0">
                <a:solidFill>
                  <a:srgbClr val="F0EEF8"/>
                </a:solidFill>
                <a:latin typeface="Arial"/>
              </a:rPr>
              <a:t>YOUR MOVE.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A2A0B8"/>
                </a:solidFill>
                <a:latin typeface="Arial"/>
              </a:rPr>
              <a:t>Join our table — the store only sells style, we promise.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8568" y="3383280"/>
            <a:ext cx="7680960" cy="1737360"/>
          </a:xfrm>
          <a:prstGeom prst="roundRect">
            <a:avLst>
              <a:gd name="adj" fmla="val 5500"/>
            </a:avLst>
          </a:prstGeom>
          <a:solidFill>
            <a:srgbClr val="22222E"/>
          </a:solidFill>
          <a:ln w="12700">
            <a:solidFill>
              <a:srgbClr val="2C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40029" rIns="320040" bIns="240029" rtlCol="0" anchor="ctr"/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0EEF8"/>
                </a:solidFill>
                <a:latin typeface="Arial"/>
              </a:rPr>
              <a:t>🗳️  </a:t>
            </a:r>
            <a:r>
              <a:rPr sz="1500" b="1" i="0">
                <a:solidFill>
                  <a:srgbClr val="F0EEF8"/>
                </a:solidFill>
                <a:latin typeface="Arial"/>
              </a:rPr>
              <a:t>Vote for UNO Online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0EEF8"/>
                </a:solidFill>
                <a:latin typeface="Arial"/>
              </a:rPr>
              <a:t>🎮  </a:t>
            </a:r>
            <a:r>
              <a:rPr sz="1500" b="1" i="0">
                <a:solidFill>
                  <a:srgbClr val="F0EEF8"/>
                </a:solidFill>
                <a:latin typeface="Arial"/>
              </a:rPr>
              <a:t>Play the live demo — scan the QR / grab the link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0EEF8"/>
                </a:solidFill>
                <a:latin typeface="Arial"/>
              </a:rPr>
              <a:t>🤝  </a:t>
            </a:r>
            <a:r>
              <a:rPr sz="1500" b="1" i="0">
                <a:solidFill>
                  <a:srgbClr val="F0EEF8"/>
                </a:solidFill>
                <a:latin typeface="Arial"/>
              </a:rPr>
              <a:t>Intros to festival-content &amp; community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981" y="5486400"/>
            <a:ext cx="1109441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</a:rPr>
              <a:t>Team</a:t>
            </a:r>
            <a:r>
              <a:rPr lang="en-US" sz="13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</a:rPr>
              <a:t> - </a:t>
            </a:r>
            <a:r>
              <a:rPr lang="en-US" sz="1200">
                <a:solidFill>
                  <a:schemeClr val="accent2">
                    <a:lumMod val="60000"/>
                    <a:lumOff val="40000"/>
                  </a:schemeClr>
                </a:solidFill>
              </a:rPr>
              <a:t>Late</a:t>
            </a:r>
            <a:r>
              <a:rPr sz="13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</a:rPr>
              <a:t> </a:t>
            </a:r>
            <a:r>
              <a:rPr lang="en-US" sz="1400">
                <a:solidFill>
                  <a:schemeClr val="accent2">
                    <a:lumMod val="60000"/>
                    <a:lumOff val="40000"/>
                  </a:schemeClr>
                </a:solidFill>
              </a:rPr>
              <a:t>Night Compile </a:t>
            </a:r>
            <a:r>
              <a:rPr lang="en-US" sz="140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</a:p>
          <a:p>
            <a:pPr algn="ctr"/>
            <a:r>
              <a:rPr lang="en-US" sz="1400">
                <a:solidFill>
                  <a:schemeClr val="accent1">
                    <a:lumMod val="60000"/>
                    <a:lumOff val="40000"/>
                  </a:schemeClr>
                </a:solidFill>
              </a:rPr>
              <a:t>Divya Singh . Nitish Vashisht. Vrinda Mayatra</a:t>
            </a:r>
            <a:endParaRPr sz="1300" b="0" i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729984"/>
            <a:ext cx="3057067" cy="128016"/>
          </a:xfrm>
          <a:prstGeom prst="rect">
            <a:avLst/>
          </a:prstGeom>
          <a:solidFill>
            <a:srgbClr val="E0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47923" y="6729984"/>
            <a:ext cx="3057067" cy="128016"/>
          </a:xfrm>
          <a:prstGeom prst="rect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5847" y="6729984"/>
            <a:ext cx="3057067" cy="12801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3771" y="6729984"/>
            <a:ext cx="3057067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1648</Words>
  <Application>Microsoft Macintosh PowerPoint</Application>
  <PresentationFormat>Widescreen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Divya Singh</cp:lastModifiedBy>
  <cp:revision>3</cp:revision>
  <dcterms:created xsi:type="dcterms:W3CDTF">2013-01-27T09:14:16Z</dcterms:created>
  <dcterms:modified xsi:type="dcterms:W3CDTF">2026-08-21T18:14:25Z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f6832b-0c40-4b9e-9ae0-ae73bcd49636_Enabled">
    <vt:lpwstr>true</vt:lpwstr>
  </property>
  <property fmtid="{D5CDD505-2E9C-101B-9397-08002B2CF9AE}" pid="3" name="MSIP_Label_e6f6832b-0c40-4b9e-9ae0-ae73bcd49636_SetDate">
    <vt:lpwstr>2026-08-21T17:47:54Z</vt:lpwstr>
  </property>
  <property fmtid="{D5CDD505-2E9C-101B-9397-08002B2CF9AE}" pid="4" name="MSIP_Label_e6f6832b-0c40-4b9e-9ae0-ae73bcd49636_Method">
    <vt:lpwstr>Standard</vt:lpwstr>
  </property>
  <property fmtid="{D5CDD505-2E9C-101B-9397-08002B2CF9AE}" pid="5" name="MSIP_Label_e6f6832b-0c40-4b9e-9ae0-ae73bcd49636_Name">
    <vt:lpwstr>Internal</vt:lpwstr>
  </property>
  <property fmtid="{D5CDD505-2E9C-101B-9397-08002B2CF9AE}" pid="6" name="MSIP_Label_e6f6832b-0c40-4b9e-9ae0-ae73bcd49636_SiteId">
    <vt:lpwstr>7acc61c5-e4a5-49d2-a52a-3ce24c726371</vt:lpwstr>
  </property>
  <property fmtid="{D5CDD505-2E9C-101B-9397-08002B2CF9AE}" pid="7" name="MSIP_Label_e6f6832b-0c40-4b9e-9ae0-ae73bcd49636_ActionId">
    <vt:lpwstr>77cf0d54-3067-4680-8e88-8b9b640f9c4d</vt:lpwstr>
  </property>
  <property fmtid="{D5CDD505-2E9C-101B-9397-08002B2CF9AE}" pid="8" name="MSIP_Label_e6f6832b-0c40-4b9e-9ae0-ae73bcd49636_ContentBits">
    <vt:lpwstr>0</vt:lpwstr>
  </property>
  <property fmtid="{D5CDD505-2E9C-101B-9397-08002B2CF9AE}" pid="9" name="MSIP_Label_e6f6832b-0c40-4b9e-9ae0-ae73bcd49636_Tag">
    <vt:lpwstr>50, 3, 0, 1</vt:lpwstr>
  </property>
</Properties>
</file>